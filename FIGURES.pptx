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349"/>
                </a:solidFill>
                <a:latin typeface="Calibri"/>
              </a:rPr>
              <a:t>Gastric Cancer Multi-Omics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45566"/>
                </a:solidFill>
                <a:latin typeface="Calibri"/>
              </a:rPr>
              <a:t>Complete figure set — 29 standalone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Calibri"/>
              </a:rPr>
              <a:t>Generated 02 August 2026 · fully editable — move, resize or replace any element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307" y="694944"/>
            <a:ext cx="457708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1. Tumour transcriptional programmes.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results/figures/Fig1.png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207" y="694944"/>
            <a:ext cx="592328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2. The 25-gene signature, reported honestly.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results/figures/Fig2.png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845" y="694944"/>
            <a:ext cx="460400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3. The externally-validated fibroblast/stromal module (primary finding).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results/figures/Fig3.png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207" y="694944"/>
            <a:ext cx="592328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4. Immune microenvironment and the multi-cohort microbiome.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results/figures/Fig4.png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8686" y="694944"/>
            <a:ext cx="563432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5. Weighted gene co-expression network analysis (WGCNA) of TCGA-STAD.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results/figures/Fig5.png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6</a:t>
            </a:r>
          </a:p>
        </p:txBody>
      </p:sp>
      <p:pic>
        <p:nvPicPr>
          <p:cNvPr id="3" name="Picture 2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629" y="694944"/>
            <a:ext cx="618843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6. TCGA-only differential expression.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results/figures/Fig6.png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7</a:t>
            </a:r>
          </a:p>
        </p:txBody>
      </p:sp>
      <p:pic>
        <p:nvPicPr>
          <p:cNvPr id="3" name="Picture 2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09" y="694944"/>
            <a:ext cx="820747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7. The 25-gene prognostic signature in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results/figures/Fig7.png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8</a:t>
            </a:r>
          </a:p>
        </p:txBody>
      </p:sp>
      <p:pic>
        <p:nvPicPr>
          <p:cNvPr id="3" name="Picture 2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100" y="694944"/>
            <a:ext cx="8021495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Figure 8. Mendelian-randomisation SNP-effect scatter, all six exposures.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results/figures/Fig8.png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</a:t>
            </a:r>
          </a:p>
        </p:txBody>
      </p:sp>
      <p:pic>
        <p:nvPicPr>
          <p:cNvPr id="3" name="Picture 2" descr="UMAP_cell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67" y="694944"/>
            <a:ext cx="646176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S1. Single-cell atlas (GSE134520).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results/scrna/UMAP_celltypes.png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S2</a:t>
            </a:r>
          </a:p>
        </p:txBody>
      </p:sp>
      <p:pic>
        <p:nvPicPr>
          <p:cNvPr id="3" name="Picture 2" descr="DotPlot_stromal_module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582" y="694944"/>
            <a:ext cx="424053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S2. Stromal hub-gene expression by cell 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results/scrna/DotPlot_stromal_module_hub.png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S3</a:t>
            </a:r>
          </a:p>
        </p:txBody>
      </p:sp>
      <p:pic>
        <p:nvPicPr>
          <p:cNvPr id="3" name="Picture 2" descr="top_candidate_dru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107" y="694944"/>
            <a:ext cx="726948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S3. In-silico drug-repurposing candidates.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results/drug_repurposing_integrated/top_candidate_drugs.png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S4</a:t>
            </a:r>
          </a:p>
        </p:txBody>
      </p:sp>
      <p:pic>
        <p:nvPicPr>
          <p:cNvPr id="3" name="Picture 2" descr="path_ORA_GO_KEG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37" y="694944"/>
            <a:ext cx="109042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S4. Over-representation analysis (GO:BP and KEGG, tumour-up genes).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results/enrichment/path_ORA_GO_KEGG.png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S5</a:t>
            </a:r>
          </a:p>
        </p:txBody>
      </p:sp>
      <p:pic>
        <p:nvPicPr>
          <p:cNvPr id="3" name="Picture 2" descr="scatter_H__pylori_IgG_seropo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S5. Mendelian-randomisation scatter (representative exposure).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results/mr_real/scatter_H__pylori_IgG_seropositivity.png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S6</a:t>
            </a:r>
          </a:p>
        </p:txBody>
      </p:sp>
      <p:pic>
        <p:nvPicPr>
          <p:cNvPr id="3" name="Picture 2" descr="loo_H__pylori_IgG_seropo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S6. Mendelian-randomisation leave-one-out (representative exposure).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results/mr_real/loo_H__pylori_IgG_seropositivity.png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S7</a:t>
            </a:r>
          </a:p>
        </p:txBody>
      </p:sp>
      <p:pic>
        <p:nvPicPr>
          <p:cNvPr id="3" name="Picture 2" descr="da_clr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645" y="694944"/>
            <a:ext cx="846040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S7. Tissue-microbiome compositional differential abundance.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results/microbiome_biomarker/da_clr_barplot.png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S8A</a:t>
            </a:r>
          </a:p>
        </p:txBody>
      </p:sp>
      <p:pic>
        <p:nvPicPr>
          <p:cNvPr id="3" name="Picture 2" descr="Immune_valid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Deconvolution validated against measured leukocyte percentage (Spearman rho = 0.666, p = 3.6e-36, n = 272).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results/plots/Immune_validation_scatter.png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S8B</a:t>
            </a:r>
          </a:p>
        </p:txBody>
      </p:sp>
      <p:pic>
        <p:nvPicPr>
          <p:cNvPr id="3" name="Picture 2" descr="Immune_tumor_vs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694944"/>
            <a:ext cx="969264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Immune cell-type estimates, tumour versus normal tissue.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results/plots/Immune_tumor_vs_normal.png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S8C</a:t>
            </a:r>
          </a:p>
        </p:txBody>
      </p:sp>
      <p:pic>
        <p:nvPicPr>
          <p:cNvPr id="3" name="Picture 2" descr="Immune_by_sub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Immune infiltration by Lauren subtype.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results/plots/Immune_by_subtype.png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S8D</a:t>
            </a:r>
          </a:p>
        </p:txBody>
      </p:sp>
      <p:pic>
        <p:nvPicPr>
          <p:cNvPr id="3" name="Picture 2" descr="Immune_CD8_survival_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687" y="694944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CD8 T-cell infiltration and overall survival (HR 1.04, p = 0.41; not prognostic).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results/plots/Immune_CD8_survival_KM.png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S9A</a:t>
            </a:r>
          </a:p>
        </p:txBody>
      </p:sp>
      <p:pic>
        <p:nvPicPr>
          <p:cNvPr id="3" name="Picture 2" descr="combined_nom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694944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Clinical nomogram combining stage, age and the 25-gene signature.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results/nomogram_combined/combined_nomogram.png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S9B</a:t>
            </a:r>
          </a:p>
        </p:txBody>
      </p:sp>
      <p:pic>
        <p:nvPicPr>
          <p:cNvPr id="3" name="Picture 2" descr="calibration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Calibration of the combined model against observed survival.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results/nomogram_combined/calibration_combined.png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S9C</a:t>
            </a:r>
          </a:p>
        </p:txBody>
      </p:sp>
      <p:pic>
        <p:nvPicPr>
          <p:cNvPr id="3" name="Picture 2" descr="DCA_ex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67" y="694944"/>
            <a:ext cx="646176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External decision-curve analysis in ACRG: no incremental net benefit over staging (delta-C +0.005).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results/external_utility_ACRG/DCA_external.png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S10A</a:t>
            </a:r>
          </a:p>
        </p:txBody>
      </p:sp>
      <p:pic>
        <p:nvPicPr>
          <p:cNvPr id="3" name="Picture 2" descr="loo_H__pylori_IgG_seropo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leave-one-out: anti-H. pylori IgG seropositivity.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results/mr_real/loo_H__pylori_IgG_seropositivity.png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S10B</a:t>
            </a:r>
          </a:p>
        </p:txBody>
      </p:sp>
      <p:pic>
        <p:nvPicPr>
          <p:cNvPr id="3" name="Picture 2" descr="loo_Streptococcus__genus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leave-one-out: Streptococcus (genus).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results/mr_real/loo_Streptococcus__genus_.png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S10C</a:t>
            </a:r>
          </a:p>
        </p:txBody>
      </p:sp>
      <p:pic>
        <p:nvPicPr>
          <p:cNvPr id="3" name="Picture 2" descr="loo_Fusobacter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leave-one-out: Fusobacterium.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results/mr_real/loo_Fusobacterium.png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S10D</a:t>
            </a:r>
          </a:p>
        </p:txBody>
      </p:sp>
      <p:pic>
        <p:nvPicPr>
          <p:cNvPr id="3" name="Picture 2" descr="loo_Prevot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leave-one-out: Prevotella.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results/mr_real/loo_Prevotella.png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S10E</a:t>
            </a:r>
          </a:p>
        </p:txBody>
      </p:sp>
      <p:pic>
        <p:nvPicPr>
          <p:cNvPr id="3" name="Picture 2" descr="loo_Veillon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leave-one-out: Veillonella.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results/mr_real/loo_Veillonella.png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S10F</a:t>
            </a:r>
          </a:p>
        </p:txBody>
      </p:sp>
      <p:pic>
        <p:nvPicPr>
          <p:cNvPr id="3" name="Picture 2" descr="loo_Lactobacil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leave-one-out: Lactobacillus.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results/mr_real/loo_Lactobacillus.png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S11</a:t>
            </a:r>
          </a:p>
        </p:txBody>
      </p:sp>
      <p:pic>
        <p:nvPicPr>
          <p:cNvPr id="3" name="Picture 2" descr="rf_batch_classif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94" y="694944"/>
            <a:ext cx="10643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Supplementary Figure S11. The tumour-microbiome classifier is a batch artefact.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results/microbiome_biomarker/rf_batch_classifier.png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
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3349"/>
                </a:solidFill>
                <a:latin typeface="Calibri"/>
              </a:rPr>
              <a:t>Gastric Cancer Multi-Omics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45566"/>
                </a:solidFill>
                <a:latin typeface="Calibri"/>
              </a:rPr>
              <a:t>Complete figure set — 28 standalone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Calibri"/>
              </a:rPr>
              <a:t>Generated 02 August 2026 · fully editable — move, resize or replace any element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1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07" y="694944"/>
            <a:ext cx="45770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Tumour transcriptional programmes.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results/figures/Fig1.png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2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07" y="694944"/>
            <a:ext cx="59232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The 25-gene signature, reported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results/figures/Fig2.png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3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845" y="694944"/>
            <a:ext cx="460400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The externally-validated fibroblast/stromal module (primary finding).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results/figures/Fig3.png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4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207" y="694944"/>
            <a:ext cx="59232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microenvironment and the multi-cohort microbiome.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results/figures/Fig4.png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5</a:t>
            </a:r>
          </a:p>
        </p:txBody>
      </p:sp>
      <p:pic>
        <p:nvPicPr>
          <p:cNvPr id="3" name="Picture 2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686" y="694944"/>
            <a:ext cx="563432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Weighted gene co-expression network analysis (WGCNA) of TCGA-STAD.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results/figures/Fig5.png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6</a:t>
            </a:r>
          </a:p>
        </p:txBody>
      </p:sp>
      <p:pic>
        <p:nvPicPr>
          <p:cNvPr id="3" name="Picture 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629" y="694944"/>
            <a:ext cx="618843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TCGA-only differential expression.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results/figures/Fig6.png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7</a:t>
            </a:r>
          </a:p>
        </p:txBody>
      </p:sp>
      <p:pic>
        <p:nvPicPr>
          <p:cNvPr id="3" name="Picture 2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09" y="694944"/>
            <a:ext cx="820747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The 25-gene prognostic signature in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results/figures/Fig7.png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Figure 8</a:t>
            </a:r>
          </a:p>
        </p:txBody>
      </p:sp>
      <p:pic>
        <p:nvPicPr>
          <p:cNvPr id="3" name="Picture 2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100" y="694944"/>
            <a:ext cx="8021495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SNP-effect scatter, all six exposures.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results/figures/Fig8.png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</a:t>
            </a:r>
          </a:p>
        </p:txBody>
      </p:sp>
      <p:pic>
        <p:nvPicPr>
          <p:cNvPr id="3" name="Picture 2" descr="UMAP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967" y="694944"/>
            <a:ext cx="646176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Single-cell atlas (GSE134520).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results/scrna/UMAP_celltypes.png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S2</a:t>
            </a:r>
          </a:p>
        </p:txBody>
      </p:sp>
      <p:pic>
        <p:nvPicPr>
          <p:cNvPr id="3" name="Picture 2" descr="DotPlot_stromal_module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582" y="694944"/>
            <a:ext cx="424053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Stromal hub-gene expression by cell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results/scrna/DotPlot_stromal_module_hub.png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S3</a:t>
            </a:r>
          </a:p>
        </p:txBody>
      </p:sp>
      <p:pic>
        <p:nvPicPr>
          <p:cNvPr id="3" name="Picture 2" descr="top_candidate_dru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107" y="694944"/>
            <a:ext cx="72694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In-silico drug-repurposing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results/drug_repurposing_integrated/top_candidate_drugs.png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S4</a:t>
            </a:r>
          </a:p>
        </p:txBody>
      </p:sp>
      <p:pic>
        <p:nvPicPr>
          <p:cNvPr id="3" name="Picture 2" descr="path_ORA_GO_KEG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" y="694944"/>
            <a:ext cx="109042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Over-representation analysis (GO:BP and KEGG, tumour-up genes).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results/enrichment/path_ORA_GO_KEGG.png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S5</a:t>
            </a:r>
          </a:p>
        </p:txBody>
      </p:sp>
      <p:pic>
        <p:nvPicPr>
          <p:cNvPr id="3" name="Picture 2" descr="scatter_H__pylori_IgG_seropo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scatter (representative exposure).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results/mr_real/scatter_H__pylori_IgG_seropositivity.png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S6</a:t>
            </a:r>
          </a:p>
        </p:txBody>
      </p:sp>
      <p:pic>
        <p:nvPicPr>
          <p:cNvPr id="3" name="Picture 2" descr="loo_H__pylori_IgG_seropo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 (representative exposure).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results/mr_real/loo_H__pylori_IgG_seropositivity.png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S7</a:t>
            </a:r>
          </a:p>
        </p:txBody>
      </p:sp>
      <p:pic>
        <p:nvPicPr>
          <p:cNvPr id="3" name="Picture 2" descr="da_clr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645" y="694944"/>
            <a:ext cx="846040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Tissue-microbiome compositional differential abundance.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results/microbiome_biomarker/da_clr_barplot.png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S8</a:t>
            </a:r>
          </a:p>
        </p:txBody>
      </p:sp>
      <p:pic>
        <p:nvPicPr>
          <p:cNvPr id="3" name="Picture 2" descr="Immune_valid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Deconvolution validated against pathology: MCP-counter CD8 T-cell score versus measured leukocyte percentage (Spearman rho = 0.468, p = 3.1e-16, n = 272). The total T-cell score correlates more strongly still (rho = 0.666, p = 3.6e-36). Neither estimate correlates with measured lymphocyte-infiltration percentage (CD8 rho = 0.020, p = 0.74), so deconvolution captures overall immune burden rather than lymphocyte subset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results/plots/Immune_validation_scatter.png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S9</a:t>
            </a:r>
          </a:p>
        </p:txBody>
      </p:sp>
      <p:pic>
        <p:nvPicPr>
          <p:cNvPr id="3" name="Picture 2" descr="Immune_tumor_vs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694944"/>
            <a:ext cx="969264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cell-type estimates, tumour versus normal tissue.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results/plots/Immune_tumor_vs_normal.png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S10</a:t>
            </a:r>
          </a:p>
        </p:txBody>
      </p:sp>
      <p:pic>
        <p:nvPicPr>
          <p:cNvPr id="3" name="Picture 2" descr="Immune_by_sub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Immune infiltration by Lauren subtype.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results/plots/Immune_by_subtype.png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S11</a:t>
            </a:r>
          </a:p>
        </p:txBody>
      </p:sp>
      <p:pic>
        <p:nvPicPr>
          <p:cNvPr id="3" name="Picture 2" descr="Immune_CD8_survival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687" y="694944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CD8 T-cell infiltration and overall survival (HR 1.04, p = 0.41; not prognostic).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results/plots/Immune_CD8_survival_KM.png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S12</a:t>
            </a:r>
          </a:p>
        </p:txBody>
      </p:sp>
      <p:pic>
        <p:nvPicPr>
          <p:cNvPr id="3" name="Picture 2" descr="combined_nom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91" y="694944"/>
            <a:ext cx="775411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Clinical nomogram combining stage, age and the 25-gene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results/nomogram_combined/combined_nomogram.png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S13</a:t>
            </a:r>
          </a:p>
        </p:txBody>
      </p:sp>
      <p:pic>
        <p:nvPicPr>
          <p:cNvPr id="3" name="Picture 2" descr="calibration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Calibration of the combined model against observed survival.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results/nomogram_combined/calibration_combined.png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S14</a:t>
            </a:r>
          </a:p>
        </p:txBody>
      </p:sp>
      <p:pic>
        <p:nvPicPr>
          <p:cNvPr id="3" name="Picture 2" descr="DCA_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967" y="694944"/>
            <a:ext cx="646176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External decision-curve analysis in ACRG: no incremental net benefit over staging (delta-C +0.005).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results/external_utility_ACRG/DCA_external.png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S15</a:t>
            </a:r>
          </a:p>
        </p:txBody>
      </p:sp>
      <p:pic>
        <p:nvPicPr>
          <p:cNvPr id="3" name="Picture 2" descr="loo_Streptococcus__genus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leave-one-out: Streptococcus (genus).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results/mr_real/loo_Streptococcus__genus_.png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S16</a:t>
            </a:r>
          </a:p>
        </p:txBody>
      </p:sp>
      <p:pic>
        <p:nvPicPr>
          <p:cNvPr id="3" name="Picture 2" descr="loo_Fusobacte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leave-one-out: Fusobacterium.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results/mr_real/loo_Fusobacterium.png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S17</a:t>
            </a:r>
          </a:p>
        </p:txBody>
      </p:sp>
      <p:pic>
        <p:nvPicPr>
          <p:cNvPr id="3" name="Picture 2" descr="loo_Prevot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leave-one-out: Prevotella.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results/mr_real/loo_Prevotella.png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S18</a:t>
            </a:r>
          </a:p>
        </p:txBody>
      </p:sp>
      <p:pic>
        <p:nvPicPr>
          <p:cNvPr id="3" name="Picture 2" descr="loo_Veillon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leave-one-out: Veillonella.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results/mr_real/loo_Veillonella.png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S19</a:t>
            </a:r>
          </a:p>
        </p:txBody>
      </p:sp>
      <p:pic>
        <p:nvPicPr>
          <p:cNvPr id="3" name="Picture 2" descr="loo_Lactobacil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55" y="694944"/>
            <a:ext cx="581558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Mendelian-randomisation leave-one-out: Lactobacillus.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results/mr_real/loo_Lactobacillus.png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3349"/>
                </a:solidFill>
                <a:latin typeface="Calibri"/>
              </a:rPr>
              <a:t>Supplementary Figure S20</a:t>
            </a:r>
          </a:p>
        </p:txBody>
      </p:sp>
      <p:pic>
        <p:nvPicPr>
          <p:cNvPr id="3" name="Picture 2" descr="rf_batch_class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94" y="694944"/>
            <a:ext cx="1064390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5577840"/>
            <a:ext cx="113687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Calibri"/>
              </a:rPr>
              <a:t>The tumour-microbiome classifier is a batch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01968"/>
            <a:ext cx="113687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99999"/>
                </a:solidFill>
                <a:latin typeface="Calibri"/>
              </a:rPr>
              <a:t>results/microbiome_biomarker/rf_batch_classifier.png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
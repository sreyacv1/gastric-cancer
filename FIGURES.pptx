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349"/>
                </a:solidFill>
                <a:latin typeface="Calibri"/>
              </a:rPr>
              <a:t>Gastric Cancer Multi-Omics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45566"/>
                </a:solidFill>
                <a:latin typeface="Calibri"/>
              </a:rPr>
              <a:t>Complete figure set — 49 standalone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Calibri"/>
              </a:rPr>
              <a:t>Generated 02 August 2026 · fully editable — move, resize or replace any element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269" y="694944"/>
            <a:ext cx="895515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Hallmark gene-set enrichment, tumour versus normal (integrated TCGA+GTEx). Proliferation programmes are up (E2F targets NES +3.75; G2M checkpoint +3.64; MYC targets +2.67) and oxidative metabolism down (oxidative phosphorylation -2.54; fatty-acid metabolism -2.58).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results/figures/panels/Fig1A.png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269" y="694944"/>
            <a:ext cx="895515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Hallmark gene-set enrichment, diffuse versus intestinal (Lauren contrast). Epithelial-mesenchymal transition is the top set in diffuse tumours (NES +3.17, adjusted p = 1.6e-40), recovering the classical histological distinction from expression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results/figures/panels/Fig1B.png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Kaplan-Meier stratification by the 25-gene signature in TCGA-STAD (training cohort, median split).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results/figures/panels/Fig2A.png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Per-cohort hazard ratios for the signature across training and external validation cohorts.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results/figures/panels/Fig2B.png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Internal performance estimated by nested cross-validation: Harrell C = 0.611 (95% CI 0.562-0.659), Uno C = 0.573, integrated Brier score 0.179. The apparent (leaky) C was 0.72.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results/figures/panels/Fig2C.png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6</a:t>
            </a:r>
          </a:p>
        </p:txBody>
      </p:sp>
      <p:pic>
        <p:nvPicPr>
          <p:cNvPr id="3" name="Picture 2" descr="Fig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Time-varying hazard ratio in ACRG. The signature is prognostic early (HR 1.49 at 12 months) and attenuates to null thereafter (1.03 at 36 months; 0.87 at 60 months); proportional hazards is violated (cox.zph p = 0.0018).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results/figures/panels/Fig2D.png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7</a:t>
            </a:r>
          </a:p>
        </p:txBody>
      </p:sp>
      <p:pic>
        <p:nvPicPr>
          <p:cNvPr id="3" name="Picture 2" descr="Fig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257" y="694944"/>
            <a:ext cx="5507181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WGCNA module preservation of the stromal/fibroblast (red) module in three independent cohorts. Zsummary 15.9, 16.8 and 17.1 - all far above the Z &gt; 10 strong-preservation threshold.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results/figures/panels/Fig3A.png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8</a:t>
            </a:r>
          </a:p>
        </p:txBody>
      </p:sp>
      <p:pic>
        <p:nvPicPr>
          <p:cNvPr id="3" name="Picture 2" descr="Fig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257" y="694944"/>
            <a:ext cx="5507181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Module eigengene survival association in the same external cohorts (hazard ratio per standard deviation 1.24-1.55, all p &lt; 0.005). The module replicates in GSE84437, where the 25-gene signature failed.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results/figures/panels/Fig3B.png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9</a:t>
            </a:r>
          </a:p>
        </p:txBody>
      </p:sp>
      <p:pic>
        <p:nvPicPr>
          <p:cNvPr id="3" name="Picture 2" descr="Fig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177" y="694944"/>
            <a:ext cx="767334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Single-cell localisation of the 29 stromal module hub genes: 28 of 29 are fibroblast-dominant (median fraction 0.97), the exception being FAP, which is endothelial-dominant here (0.71). Because six of these genes (DCN, LUM, COL1A1, COL1A2, FAP, COL3A1) were themselves used to annotate the fibroblast cluster, a non-circular re-test excluding them was also run: all 23 remaining hub genes stay fibroblast-dominant (median fraction 0.96).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results/figures/panels/Fig3C.png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10</a:t>
            </a:r>
          </a:p>
        </p:txBody>
      </p:sp>
      <p:pic>
        <p:nvPicPr>
          <p:cNvPr id="3" name="Picture 2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deconvolution validated against pathologist-measured values. T-cell score versus measured leukocyte percentage: Spearman rho = 0.666, p = 3.6e-36, n = 272.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results/figures/panels/Fig4A.png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11</a:t>
            </a:r>
          </a:p>
        </p:txBody>
      </p:sp>
      <p:pic>
        <p:nvPicPr>
          <p:cNvPr id="3" name="Picture 2" descr="Fig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infiltration by Lauren subtype.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results/figures/panels/Fig4B.png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12</a:t>
            </a:r>
          </a:p>
        </p:txBody>
      </p:sp>
      <p:pic>
        <p:nvPicPr>
          <p:cNvPr id="3" name="Picture 2" descr="Fig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914" y="694944"/>
            <a:ext cx="589986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Three-cohort tissue-microbiome comparison. Japan: tumour signal batch-confounded (Bray-Curtis R2 0.065 to 0.011 after flowcell adjustment). Italy: null (R2 = 0.018, p = 0.80). Portugal: reduced diversity replicates (Shannon p = 0.004; Bray R2 = 0.145, p = 0.001).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results/figures/panels/Fig4C.png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13</a:t>
            </a:r>
          </a:p>
        </p:txBody>
      </p:sp>
      <p:pic>
        <p:nvPicPr>
          <p:cNvPr id="3" name="Picture 2" descr="wgcna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87" y="694944"/>
            <a:ext cx="88849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WGCNA gene dendrogram and module assignment (TCGA-STAD, top 5000 genes by median absolute deviation).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results/wgcna_real/wgcna_dendrogram.png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14</a:t>
            </a:r>
          </a:p>
        </p:txBody>
      </p:sp>
      <p:pic>
        <p:nvPicPr>
          <p:cNvPr id="3" name="Picture 2" descr="wgcna_module_tr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075" y="694944"/>
            <a:ext cx="758554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WGCNA module-trait relationship heatmap across clinical and molecular variables.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results/wgcna_real/wgcna_module_trait.png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15</a:t>
            </a:r>
          </a:p>
        </p:txBody>
      </p:sp>
      <p:pic>
        <p:nvPicPr>
          <p:cNvPr id="3" name="Picture 2" descr="wgcna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94944"/>
            <a:ext cx="11368735" cy="4547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Soft-threshold power selection. Scale-free fit is near-flat across powers 3-12 (R2 0.877-0.886); the prognostic module is invariant to the choice.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results/wgcna_real/wgcna_power.png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16</a:t>
            </a:r>
          </a:p>
        </p:txBody>
      </p:sp>
      <p:pic>
        <p:nvPicPr>
          <p:cNvPr id="3" name="Picture 2" descr="deg_volc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67" y="694944"/>
            <a:ext cx="646176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TCGA-only differential expression (limma-voom): 2,134 up and 2,362 down of 21,446 genes tested.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results/plots/transcriptome/deg_volcano.png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17</a:t>
            </a:r>
          </a:p>
        </p:txBody>
      </p:sp>
      <p:pic>
        <p:nvPicPr>
          <p:cNvPr id="3" name="Picture 2" descr="deg_heatmap_top30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291" y="694944"/>
            <a:ext cx="6329113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Top 30 differentially-expressed genes (15 up, 15 down) in 36 normal versus 412 tumour samples; colours are z-scored expression.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results/plots/transcriptome/deg_heatmap_top30_clean.png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18</a:t>
            </a:r>
          </a:p>
        </p:txBody>
      </p:sp>
      <p:pic>
        <p:nvPicPr>
          <p:cNvPr id="3" name="Picture 2" descr="deg_concordance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94944"/>
            <a:ext cx="11368735" cy="4080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Integrated tumour-versus-normal ranking against three independent cohorts (n = 12,905 shared genes): TCGA r = 0.73, GSE27342 r = 0.62, GSE63089 r = 0.58.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results/figures/deg_concordance_panel.png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19</a:t>
            </a:r>
          </a:p>
        </p:txBody>
      </p:sp>
      <p:pic>
        <p:nvPicPr>
          <p:cNvPr id="3" name="Picture 2" descr="signature_coefficients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5119" y="694944"/>
            <a:ext cx="498145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Standardised LASSO-Cox coefficients (log-hazard per standard deviation) for the 25 signature genes. Genes also in the prognostic WGCNA red module (SERPINE1, POSTN, MATN3) are highlighted.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results/validation/signature_coefficients_clean.png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20</a:t>
            </a:r>
          </a:p>
        </p:txBody>
      </p:sp>
      <p:pic>
        <p:nvPicPr>
          <p:cNvPr id="3" name="Picture 2" descr="forest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694944"/>
            <a:ext cx="969264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Per-cohort external-validation forest plot (high-versus-low hazard ratios, median split, unadjusted): ACRG 1.90 (1.37-2.62), GSE15459 1.68 (1.11-2.54), GSE84437 1.11 (0.84-1.46, null).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results/validation_multi/forest_HR.png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21</a:t>
            </a:r>
          </a:p>
        </p:txBody>
      </p:sp>
      <p:pic>
        <p:nvPicPr>
          <p:cNvPr id="3" name="Picture 2" descr="KM_TC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Kaplan-Meier stratification, TCGA-STAD (training).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results/validation/KM_TCGA.png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22</a:t>
            </a:r>
          </a:p>
        </p:txBody>
      </p:sp>
      <p:pic>
        <p:nvPicPr>
          <p:cNvPr id="3" name="Picture 2" descr="KM_AC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Kaplan-Meier stratification, ACRG/GSE62254 (validation; log-rank p = 8.6e-5).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results/validation/KM_ACRG.png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23</a:t>
            </a:r>
          </a:p>
        </p:txBody>
      </p:sp>
      <p:pic>
        <p:nvPicPr>
          <p:cNvPr id="3" name="Picture 2" descr="KM_GSE154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Kaplan-Meier stratification, GSE15459 (validation; log-rank p = 0.014).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results/validation_multi/KM_GSE15459.png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24</a:t>
            </a:r>
          </a:p>
        </p:txBody>
      </p:sp>
      <p:pic>
        <p:nvPicPr>
          <p:cNvPr id="3" name="Picture 2" descr="KM_GSE844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Kaplan-Meier stratification, GSE84437 (validation; log-rank p = 0.46 - shown transparently as a negative).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results/validation_multi/KM_GSE84437.png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25</a:t>
            </a:r>
          </a:p>
        </p:txBody>
      </p:sp>
      <p:pic>
        <p:nvPicPr>
          <p:cNvPr id="3" name="Picture 2" descr="scatter_H__pylori_IgG_seropo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anti-H. pylori IgG seropositivity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results/mr_real/scatter_H__pylori_IgG_seropositivity.png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26</a:t>
            </a:r>
          </a:p>
        </p:txBody>
      </p:sp>
      <p:pic>
        <p:nvPicPr>
          <p:cNvPr id="3" name="Picture 2" descr="scatter_Streptococcus__genus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Streptococcus (genus)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results/mr_real/scatter_Streptococcus__genus_.png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27</a:t>
            </a:r>
          </a:p>
        </p:txBody>
      </p:sp>
      <p:pic>
        <p:nvPicPr>
          <p:cNvPr id="3" name="Picture 2" descr="scatter_Fusobacter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Fusobacterium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results/mr_real/scatter_Fusobacterium.png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28</a:t>
            </a:r>
          </a:p>
        </p:txBody>
      </p:sp>
      <p:pic>
        <p:nvPicPr>
          <p:cNvPr id="3" name="Picture 2" descr="scatter_Prevot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Prevotella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results/mr_real/scatter_Prevotella.png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29</a:t>
            </a:r>
          </a:p>
        </p:txBody>
      </p:sp>
      <p:pic>
        <p:nvPicPr>
          <p:cNvPr id="3" name="Picture 2" descr="scatter_Veillon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Veillonella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results/mr_real/scatter_Veillonella.png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Figure 30</a:t>
            </a:r>
          </a:p>
        </p:txBody>
      </p:sp>
      <p:pic>
        <p:nvPicPr>
          <p:cNvPr id="3" name="Picture 2" descr="scatter_Lactobacil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SNP-effect scatter: Lactobacillus versus gastric cancer (European outcome).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results/mr_real/scatter_Lactobacillus.png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UMAP_cell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67" y="694944"/>
            <a:ext cx="646176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Single-cell atlas of gastric mucosa (GSE134520): 43,992 cells across eight annotated cell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results/scrna/UMAP_celltypes.png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DotPlot_stromal_module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582" y="694944"/>
            <a:ext cx="424053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Stromal module hub-gene expression by cell 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results/scrna/DotPlot_stromal_module_hub.png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S3</a:t>
            </a:r>
          </a:p>
        </p:txBody>
      </p:sp>
      <p:pic>
        <p:nvPicPr>
          <p:cNvPr id="3" name="Picture 2" descr="top_candidate_dru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107" y="694944"/>
            <a:ext cx="72694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In-silico drug-repurposing candidates ranked by connectivity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results/drug_repurposing_integrated/top_candidate_drugs.png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S4</a:t>
            </a:r>
          </a:p>
        </p:txBody>
      </p:sp>
      <p:pic>
        <p:nvPicPr>
          <p:cNvPr id="3" name="Picture 2" descr="path_ORA_GO_KEG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7" y="694944"/>
            <a:ext cx="109042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Over-representation analysis (GO biological process and KEGG) of tumour-up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results/enrichment/path_ORA_GO_KEGG.png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S5</a:t>
            </a:r>
          </a:p>
        </p:txBody>
      </p:sp>
      <p:pic>
        <p:nvPicPr>
          <p:cNvPr id="3" name="Picture 2" descr="da_clr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645" y="694944"/>
            <a:ext cx="846040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Tissue-microbiome compositional differential abundance (centred log-ratio effect sizes).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results/microbiome_biomarker/da_clr_barplot.png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S6</a:t>
            </a:r>
          </a:p>
        </p:txBody>
      </p:sp>
      <p:pic>
        <p:nvPicPr>
          <p:cNvPr id="3" name="Picture 2" descr="Immune_valid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MCP-counter CD8 T-cell score versus measured leukocyte percentage (Spearman rho = 0.468, p = 3.1e-16, n = 272). The total T-cell score correlates more strongly (rho = 0.666). Neither correlates with measured lymphocyte-infiltration percentage (CD8 rho = 0.020, p = 0.74).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results/plots/Immune_validation_scatter.png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S7</a:t>
            </a:r>
          </a:p>
        </p:txBody>
      </p:sp>
      <p:pic>
        <p:nvPicPr>
          <p:cNvPr id="3" name="Picture 2" descr="Immune_tumor_vs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694944"/>
            <a:ext cx="969264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cell-type estimates, tumour versus normal tissue.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results/plots/Immune_tumor_vs_normal.png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S8</a:t>
            </a:r>
          </a:p>
        </p:txBody>
      </p:sp>
      <p:pic>
        <p:nvPicPr>
          <p:cNvPr id="3" name="Picture 2" descr="Immune_by_sub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Immune infiltration by Lauren subtype.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results/plots/Immune_by_subtype.png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S9</a:t>
            </a:r>
          </a:p>
        </p:txBody>
      </p:sp>
      <p:pic>
        <p:nvPicPr>
          <p:cNvPr id="3" name="Picture 2" descr="Immune_CD8_survival_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7" y="694944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CD8 T-cell infiltration and overall survival (HR 1.04, p = 0.41; not prognostic).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results/plots/Immune_CD8_survival_KM.png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S10</a:t>
            </a:r>
          </a:p>
        </p:txBody>
      </p:sp>
      <p:pic>
        <p:nvPicPr>
          <p:cNvPr id="3" name="Picture 2" descr="combined_nom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694944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Clinical nomogram combining stage, age and the 25-gene signature.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results/nomogram_combined/combined_nomogram.png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S11</a:t>
            </a:r>
          </a:p>
        </p:txBody>
      </p:sp>
      <p:pic>
        <p:nvPicPr>
          <p:cNvPr id="3" name="Picture 2" descr="calibration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Calibration of the combined model against observed survival.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results/nomogram_combined/calibration_combined.png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S12</a:t>
            </a:r>
          </a:p>
        </p:txBody>
      </p:sp>
      <p:pic>
        <p:nvPicPr>
          <p:cNvPr id="3" name="Picture 2" descr="DCA_ex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67" y="694944"/>
            <a:ext cx="646176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External decision-curve analysis in ACRG: no incremental net benefit over standard staging (delta-C +0.005).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results/external_utility_ACRG/DCA_external.png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S13</a:t>
            </a:r>
          </a:p>
        </p:txBody>
      </p:sp>
      <p:pic>
        <p:nvPicPr>
          <p:cNvPr id="3" name="Picture 2" descr="rf_batch_classif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94" y="694944"/>
            <a:ext cx="10643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The tumour-microbiome classifier is a batch artefact: apparent cancer-vs-control AUC 0.916, but flowcell is predictable at 77.6% versus a 54.5% baseline, and top discriminating taxa are environmental contaminants.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results/microbiome_biomarker/rf_batch_classifier.png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S14</a:t>
            </a:r>
          </a:p>
        </p:txBody>
      </p:sp>
      <p:pic>
        <p:nvPicPr>
          <p:cNvPr id="3" name="Picture 2" descr="loo_H__pylori_IgG_seropo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anti-H. pylori IgG seropositivity.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results/mr_real/loo_H__pylori_IgG_seropositivity.png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S15</a:t>
            </a:r>
          </a:p>
        </p:txBody>
      </p:sp>
      <p:pic>
        <p:nvPicPr>
          <p:cNvPr id="3" name="Picture 2" descr="loo_Streptococcus__genus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Streptococcus (genus).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results/mr_real/loo_Streptococcus__genus_.png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S16</a:t>
            </a:r>
          </a:p>
        </p:txBody>
      </p:sp>
      <p:pic>
        <p:nvPicPr>
          <p:cNvPr id="3" name="Picture 2" descr="loo_Fusobacter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Fusobacterium.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results/mr_real/loo_Fusobacterium.png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S17</a:t>
            </a:r>
          </a:p>
        </p:txBody>
      </p:sp>
      <p:pic>
        <p:nvPicPr>
          <p:cNvPr id="3" name="Picture 2" descr="loo_Prevot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Prevotella.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results/mr_real/loo_Prevotella.png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S18</a:t>
            </a:r>
          </a:p>
        </p:txBody>
      </p:sp>
      <p:pic>
        <p:nvPicPr>
          <p:cNvPr id="3" name="Picture 2" descr="loo_Veillon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Veillonella.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results/mr_real/loo_Veillonella.png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3349"/>
                </a:solidFill>
                <a:latin typeface="Calibri"/>
              </a:rPr>
              <a:t>Supplementary Figure S19</a:t>
            </a:r>
          </a:p>
        </p:txBody>
      </p:sp>
      <p:pic>
        <p:nvPicPr>
          <p:cNvPr id="3" name="Picture 2" descr="loo_Lactobacil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055" y="694944"/>
            <a:ext cx="581558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577840"/>
            <a:ext cx="113687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Calibri"/>
              </a:rPr>
              <a:t>Mendelian-randomisation leave-one-out analysis: Lactobacillus.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1136873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9999"/>
                </a:solidFill>
                <a:latin typeface="Calibri"/>
              </a:rPr>
              <a:t>results/mr_real/loo_Lactobacillus.png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
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3349"/>
                </a:solidFill>
                <a:latin typeface="Calibri"/>
              </a:rPr>
              <a:t>Gastric Cancer Multi-Omics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45566"/>
                </a:solidFill>
                <a:latin typeface="Calibri"/>
              </a:rPr>
              <a:t>Complete figure archive — all 92 images, one per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86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Generated 03 August 2026 · fully editable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Main figures (as published)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   ·   Figure 19</a:t>
            </a:r>
          </a:p>
        </p:txBody>
      </p:sp>
      <p:pic>
        <p:nvPicPr>
          <p:cNvPr id="3" name="Picture 2" descr="deg_concordance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76656"/>
            <a:ext cx="11368735" cy="4080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Integrated tumour-versus-normal ranking against three independent cohorts (n = 12,905 shared genes): TCGA r = 0.73, GSE27342 r = 0.62, GSE63089 r = 0.58.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results/figures/deg_concordance_panel.png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Main figure panels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   ·   Figure 1</a:t>
            </a:r>
          </a:p>
        </p:txBody>
      </p:sp>
      <p:pic>
        <p:nvPicPr>
          <p:cNvPr id="3" name="Picture 2" descr="Fig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270" y="676656"/>
            <a:ext cx="944515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Hallmark gene-set enrichment, tumour versus normal (integrated TCGA+GTEx). Proliferation programmes are up (E2F targets NES +3.75; G2M checkpoint +3.64; MYC targets +2.67) and oxidative metabolism down (oxidative phosphorylation -2.54; fatty-acid metabolism -2.58).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results/figures/panels/Fig1A.png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   ·   Figure 2</a:t>
            </a:r>
          </a:p>
        </p:txBody>
      </p:sp>
      <p:pic>
        <p:nvPicPr>
          <p:cNvPr id="3" name="Picture 2" descr="Fig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270" y="676656"/>
            <a:ext cx="944515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Hallmark gene-set enrichment, diffuse versus intestinal (Lauren contrast). Epithelial-mesenchymal transition is the top set in diffuse tumours (NES +3.17, adjusted p = 1.6e-40), recovering the classical histological distinction from expression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results/figures/panels/Fig1B.png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   ·   Figure 3</a:t>
            </a:r>
          </a:p>
        </p:txBody>
      </p:sp>
      <p:pic>
        <p:nvPicPr>
          <p:cNvPr id="3" name="Picture 2" descr="Fig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2" y="676656"/>
            <a:ext cx="6222690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Kaplan-Meier stratification by the 25-gene signature in TCGA-STAD (training cohort, median split).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results/figures/panels/Fig2A.png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   ·   Figure 4</a:t>
            </a:r>
          </a:p>
        </p:txBody>
      </p:sp>
      <p:pic>
        <p:nvPicPr>
          <p:cNvPr id="3" name="Picture 2" descr="Fig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2" y="676656"/>
            <a:ext cx="6222690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Per-cohort hazard ratios for the signature across training and external validation cohorts.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results/figures/panels/Fig2B.png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   ·   Figure 5</a:t>
            </a:r>
          </a:p>
        </p:txBody>
      </p:sp>
      <p:pic>
        <p:nvPicPr>
          <p:cNvPr id="3" name="Picture 2" descr="Fig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2" y="676656"/>
            <a:ext cx="6222690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Internal performance estimated by nested cross-validation: Harrell C = 0.611 (95% CI 0.562-0.659), Uno C = 0.573, integrated Brier score 0.179. The apparent (leaky) C was 0.72.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results/figures/panels/Fig2C.png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   ·   Figure 6</a:t>
            </a:r>
          </a:p>
        </p:txBody>
      </p:sp>
      <p:pic>
        <p:nvPicPr>
          <p:cNvPr id="3" name="Picture 2" descr="Fig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2" y="676656"/>
            <a:ext cx="6222690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Time-varying hazard ratio in ACRG. The signature is prognostic early (HR 1.49 at 12 months) and attenuates to null thereafter (1.03 at 36 months; 0.87 at 60 months); proportional hazards is violated (cox.zph p = 0.0018).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results/figures/panels/Fig2D.png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   ·   Figure 7</a:t>
            </a:r>
          </a:p>
        </p:txBody>
      </p:sp>
      <p:pic>
        <p:nvPicPr>
          <p:cNvPr id="3" name="Picture 2" descr="Fig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588" y="676656"/>
            <a:ext cx="5808518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WGCNA module preservation of the stromal/fibroblast (red) module in three independent cohorts. Zsummary 15.9, 16.8 and 17.1 - all far above the Z &gt; 10 strong-preservation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results/figures/panels/Fig3A.png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9   ·   Figure 8</a:t>
            </a:r>
          </a:p>
        </p:txBody>
      </p:sp>
      <p:pic>
        <p:nvPicPr>
          <p:cNvPr id="3" name="Picture 2" descr="Fig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588" y="676656"/>
            <a:ext cx="5808518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Module eigengene survival association in the same external cohorts (hazard ratio per standard deviation 1.24-1.55, all p &lt; 0.005). The module replicates in GSE84437, where the 25-gene signature failed.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results/figures/panels/Fig3B.png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10   ·   Figure 9</a:t>
            </a:r>
          </a:p>
        </p:txBody>
      </p:sp>
      <p:pic>
        <p:nvPicPr>
          <p:cNvPr id="3" name="Picture 2" descr="Fig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247" y="676656"/>
            <a:ext cx="8093201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Single-cell localisation of the 29 stromal module hub genes: 28 of 29 are fibroblast-dominant (median fraction 0.97), the exception being FAP, which is endothelial-dominant here (0.71). Because six of these genes (DCN, LUM, COL1A1, COL1A2, FAP, COL3A1) were themselves used to annotate the fibroblast cluster, a non-circular re-test excluding them was also run: all 23 remaining hub genes stay fibroblast-dominant (median fraction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results/figures/panels/Fig3C.png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11   ·   Figure 10</a:t>
            </a:r>
          </a:p>
        </p:txBody>
      </p:sp>
      <p:pic>
        <p:nvPicPr>
          <p:cNvPr id="3" name="Picture 2" descr="Fig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2" y="676656"/>
            <a:ext cx="6222690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Immune deconvolution validated against pathologist-measured values. T-cell score versus measured leukocyte percentage: Spearman rho = 0.666, p = 3.6e-36, n = 272.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results/figures/panels/Fig4A.png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12   ·   Figure 11</a:t>
            </a:r>
          </a:p>
        </p:txBody>
      </p:sp>
      <p:pic>
        <p:nvPicPr>
          <p:cNvPr id="3" name="Picture 2" descr="Fig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2" y="676656"/>
            <a:ext cx="6222690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Immune infiltration by Lauren subtype.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results/figures/panels/Fig4B.png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13   ·   Figure 12</a:t>
            </a:r>
          </a:p>
        </p:txBody>
      </p:sp>
      <p:pic>
        <p:nvPicPr>
          <p:cNvPr id="3" name="Picture 2" descr="Fig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2" y="676656"/>
            <a:ext cx="6222690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Three-cohort tissue-microbiome comparison. Japan: tumour signal batch-confounded (Bray-Curtis R2 0.065 to 0.011 after flowcell adjustment). Italy: null (R2 = 0.018, p = 0.80). Portugal: reduced diversity replicates (Shannon p = 0.004; Bray R2 = 0.145, p = 0.001).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results/figures/panels/Fig4C.png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Transcriptomics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14   ·   Figure 17</a:t>
            </a:r>
          </a:p>
        </p:txBody>
      </p:sp>
      <p:pic>
        <p:nvPicPr>
          <p:cNvPr id="3" name="Picture 2" descr="Lauren_vol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567" y="676656"/>
            <a:ext cx="6474561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TCGA-STAD differential expression by Lauren histological subtype (limma moderated t-test, 18,446 genes): 1,633 genes up in diffuse and 498 up in intestinal tumours at |log2 fold change| &gt; 1 and adjusted p &lt; 0.05. Top diffuse-enriched genes are extracellular-matrix and stromal (COL14A1, OGN, ABI3BP, SRPX), consistent with the desmoplastic phenotype and with EMT being the top Hallmark set in diffuse tumours.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results/plots/transcriptome/Lauren_volcano.png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15</a:t>
            </a:r>
          </a:p>
        </p:txBody>
      </p:sp>
      <p:pic>
        <p:nvPicPr>
          <p:cNvPr id="3" name="Picture 2" descr="de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39" y="676656"/>
            <a:ext cx="7951216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Deg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results/plots/transcriptome/deg_heatmap.png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16   ·   Figure 18</a:t>
            </a:r>
          </a:p>
        </p:txBody>
      </p:sp>
      <p:pic>
        <p:nvPicPr>
          <p:cNvPr id="3" name="Picture 2" descr="deg_heatmap_top30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136" y="676656"/>
            <a:ext cx="667542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Top 30 differentially-expressed genes (15 up, 15 down) in 36 normal versus 412 tumour samples; colours are z-scored expression.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results/plots/transcriptome/deg_heatmap_top30_clean.png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17   ·   Figure 16</a:t>
            </a:r>
          </a:p>
        </p:txBody>
      </p:sp>
      <p:pic>
        <p:nvPicPr>
          <p:cNvPr id="3" name="Picture 2" descr="deg_vol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83" y="676656"/>
            <a:ext cx="6815328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TCGA-only differential expression (limma-voom): 2,134 up and 2,362 down of 21,446 genes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results/plots/transcriptome/deg_volcano.png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WGCNA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18   ·   Figure 13</a:t>
            </a:r>
          </a:p>
        </p:txBody>
      </p:sp>
      <p:pic>
        <p:nvPicPr>
          <p:cNvPr id="3" name="Picture 2" descr="wgcna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09" y="676656"/>
            <a:ext cx="9371076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WGCNA gene dendrogram and module assignment (TCGA-STAD, top 5000 genes by median absolute deviation).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results/wgcna_real/wgcna_dendrogram.png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19   ·   Figure 14</a:t>
            </a:r>
          </a:p>
        </p:txBody>
      </p:sp>
      <p:pic>
        <p:nvPicPr>
          <p:cNvPr id="3" name="Picture 2" descr="wgcna_module_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46" y="676656"/>
            <a:ext cx="8000602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WGCNA module-trait relationship heatmap across clinical and molecular variables.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results/wgcna_real/wgcna_module_trait.png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20   ·   Figure 15</a:t>
            </a:r>
          </a:p>
        </p:txBody>
      </p:sp>
      <p:pic>
        <p:nvPicPr>
          <p:cNvPr id="3" name="Picture 2" descr="wgcna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76656"/>
            <a:ext cx="11368735" cy="45474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Soft-threshold power selection. Scale-free fit is near-flat across powers 3-12 (R2 0.877-0.886); the prognostic module is invariant to the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results/wgcna_real/wgcna_power.png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Validation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21   ·   Figure 23</a:t>
            </a:r>
          </a:p>
        </p:txBody>
      </p:sp>
      <p:pic>
        <p:nvPicPr>
          <p:cNvPr id="3" name="Picture 2" descr="KM_AC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Kaplan-Meier stratification, ACRG/GSE62254 (validation; log-rank p = 8.6e-5).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results/validation/KM_ACRG.png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22   ·   Figure 22</a:t>
            </a:r>
          </a:p>
        </p:txBody>
      </p:sp>
      <p:pic>
        <p:nvPicPr>
          <p:cNvPr id="3" name="Picture 2" descr="KM_TC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Kaplan-Meier stratification, TCGA-STAD (training).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results/validation/KM_TCGA.png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23   ·   Figure 20</a:t>
            </a:r>
          </a:p>
        </p:txBody>
      </p:sp>
      <p:pic>
        <p:nvPicPr>
          <p:cNvPr id="3" name="Picture 2" descr="signature_coefficient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833" y="676656"/>
            <a:ext cx="5254028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Standardised LASSO-Cox coefficients (log-hazard per standard deviation) for the 25 signature genes. Genes also in the prognostic WGCNA red module (SERPINE1, POSTN, MATN3) are highlighted.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results/validation/signature_coefficients_clean.png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24</a:t>
            </a:r>
          </a:p>
        </p:txBody>
      </p:sp>
      <p:pic>
        <p:nvPicPr>
          <p:cNvPr id="3" name="Picture 2" descr="signature_heatmap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110" y="676656"/>
            <a:ext cx="638747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Signature heatmap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results/validation/signature_heatmap_clean.png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25   ·   Figure 24</a:t>
            </a:r>
          </a:p>
        </p:txBody>
      </p:sp>
      <p:pic>
        <p:nvPicPr>
          <p:cNvPr id="3" name="Picture 2" descr="KM_GSE15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Kaplan-Meier stratification, GSE15459 (validation; log-rank p = 0.014).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results/validation_multi/KM_GSE15459.png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26   ·   Figure 25</a:t>
            </a:r>
          </a:p>
        </p:txBody>
      </p:sp>
      <p:pic>
        <p:nvPicPr>
          <p:cNvPr id="3" name="Picture 2" descr="KM_GSE844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Kaplan-Meier stratification, GSE84437 (validation; log-rank p = 0.46 - shown transparently as a negative).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results/validation_multi/KM_GSE84437.png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27   ·   Figure 21</a:t>
            </a:r>
          </a:p>
        </p:txBody>
      </p:sp>
      <p:pic>
        <p:nvPicPr>
          <p:cNvPr id="3" name="Picture 2" descr="forest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51" y="676656"/>
            <a:ext cx="10222992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Per-cohort external-validation forest plot (high-versus-low hazard ratios, median split, unadjusted): ACRG 1.90 (1.37-2.62), GSE15459 1.68 (1.11-2.54), GSE84437 1.11 (0.84-1.46, null).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results/validation_multi/forest_HR.png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Single-cell RNA-seq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28</a:t>
            </a:r>
          </a:p>
        </p:txBody>
      </p:sp>
      <p:pic>
        <p:nvPicPr>
          <p:cNvPr id="3" name="Picture 2" descr="DotPlot_signature_g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568" y="676656"/>
            <a:ext cx="4472559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DotPlot signature 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results/scrna/DotPlot_signature_genes.png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29   ·   Supplementary Figure S2</a:t>
            </a:r>
          </a:p>
        </p:txBody>
      </p:sp>
      <p:pic>
        <p:nvPicPr>
          <p:cNvPr id="3" name="Picture 2" descr="DotPlot_stromal_module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568" y="676656"/>
            <a:ext cx="4472559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Stromal module hub-gene expression by cell 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results/scrna/DotPlot_stromal_module_hub.png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30   ·   Supplementary Figure S1</a:t>
            </a:r>
          </a:p>
        </p:txBody>
      </p:sp>
      <p:pic>
        <p:nvPicPr>
          <p:cNvPr id="3" name="Picture 2" descr="UMAP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84" y="676656"/>
            <a:ext cx="6815327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Single-cell atlas of gastric mucosa (GSE134520): 43,992 cells across eight annotated cell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results/scrna/UMAP_celltypes.png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31</a:t>
            </a:r>
          </a:p>
        </p:txBody>
      </p:sp>
      <p:pic>
        <p:nvPicPr>
          <p:cNvPr id="3" name="Picture 2" descr="UMAP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84" y="676656"/>
            <a:ext cx="6815327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UMAP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results/scrna/UMAP_stage.png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Pathway enrichment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32</a:t>
            </a:r>
          </a:p>
        </p:txBody>
      </p:sp>
      <p:pic>
        <p:nvPicPr>
          <p:cNvPr id="3" name="Picture 2" descr="GSEA_enrich_Hallmark_Lauren_1_HALLMARK_E2F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GSEA enrich Hallmark Lauren 1 HALLMARK E2F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results/enrichment/GSEA_enrich_Hallmark_Lauren_1_HALLMARK_E2F_TARGETS.png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33</a:t>
            </a:r>
          </a:p>
        </p:txBody>
      </p:sp>
      <p:pic>
        <p:nvPicPr>
          <p:cNvPr id="3" name="Picture 2" descr="GSEA_enrich_Hallmark_Lauren_2_HALLMARK_MYC_TARGETS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GSEA enrich Hallmark Lauren 2 HALLMARK MYC TARGETS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results/enrichment/GSEA_enrich_Hallmark_Lauren_2_HALLMARK_MYC_TARGETS_V1.png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34</a:t>
            </a:r>
          </a:p>
        </p:txBody>
      </p:sp>
      <p:pic>
        <p:nvPicPr>
          <p:cNvPr id="3" name="Picture 2" descr="GSEA_enrich_Hallmark_Lauren_3_HALLMARK_G2M_CHECK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GSEA enrich Hallmark Lauren 3 HALLMARK G2M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results/enrichment/GSEA_enrich_Hallmark_Lauren_3_HALLMARK_G2M_CHECKPOINT.png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35</a:t>
            </a:r>
          </a:p>
        </p:txBody>
      </p:sp>
      <p:pic>
        <p:nvPicPr>
          <p:cNvPr id="3" name="Picture 2" descr="GSEA_enrich_Hallmark_Lauren_4_HALLMARK_EPITHELIAL_MESENCHYMAL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GSEA enrich Hallmark Lauren 4 HALLMARK EPITHELIAL MESENCHYMAL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results/enrichment/GSEA_enrich_Hallmark_Lauren_4_HALLMARK_EPITHELIAL_MESENCHYMAL_TRANSITION.png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36</a:t>
            </a:r>
          </a:p>
        </p:txBody>
      </p:sp>
      <p:pic>
        <p:nvPicPr>
          <p:cNvPr id="3" name="Picture 2" descr="GSEA_enrich_Hallmark_TN_1_HALLMARK_E2F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GSEA enrich Hallmark TN 1 HALLMARK E2F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results/enrichment/GSEA_enrich_Hallmark_TN_1_HALLMARK_E2F_TARGETS.png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37</a:t>
            </a:r>
          </a:p>
        </p:txBody>
      </p:sp>
      <p:pic>
        <p:nvPicPr>
          <p:cNvPr id="3" name="Picture 2" descr="GSEA_enrich_Hallmark_TN_2_HALLMARK_G2M_CHECK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GSEA enrich Hallmark TN 2 HALLMARK G2M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results/enrichment/GSEA_enrich_Hallmark_TN_2_HALLMARK_G2M_CHECKPOINT.png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38</a:t>
            </a:r>
          </a:p>
        </p:txBody>
      </p:sp>
      <p:pic>
        <p:nvPicPr>
          <p:cNvPr id="3" name="Picture 2" descr="GSEA_enrich_Hallmark_TN_3_HALLMARK_OXIDATIVE_PHOSPHORY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GSEA enrich Hallmark TN 3 HALLMARK OXIDATIVE PHOSPHORYLATION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results/enrichment/GSEA_enrich_Hallmark_TN_3_HALLMARK_OXIDATIVE_PHOSPHORYLATION.png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39</a:t>
            </a:r>
          </a:p>
        </p:txBody>
      </p:sp>
      <p:pic>
        <p:nvPicPr>
          <p:cNvPr id="3" name="Picture 2" descr="GSEA_enrich_Hallmark_TN_4_HALLMARK_ADIPOGEN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GSEA enrich Hallmark TN 4 HALLMARK ADIPOGENESIS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results/enrichment/GSEA_enrich_Hallmark_TN_4_HALLMARK_ADIPOGENESIS.png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40</a:t>
            </a:r>
          </a:p>
        </p:txBody>
      </p:sp>
      <p:pic>
        <p:nvPicPr>
          <p:cNvPr id="3" name="Picture 2" descr="dotplot_GO_BP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31" y="676656"/>
            <a:ext cx="575043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Dotplot GO BP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results/enrichment/dotplot_GO_BP_DOWN.png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41</a:t>
            </a:r>
          </a:p>
        </p:txBody>
      </p:sp>
      <p:pic>
        <p:nvPicPr>
          <p:cNvPr id="3" name="Picture 2" descr="dotplot_GO_BP_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31" y="676656"/>
            <a:ext cx="575043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Dotplot GO BP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results/enrichment/dotplot_GO_BP_UP.png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42</a:t>
            </a:r>
          </a:p>
        </p:txBody>
      </p:sp>
      <p:pic>
        <p:nvPicPr>
          <p:cNvPr id="3" name="Picture 2" descr="dotplot_GO_CC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31" y="676656"/>
            <a:ext cx="575043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Dotplot GO CC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results/enrichment/dotplot_GO_CC_DOWN.png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43</a:t>
            </a:r>
          </a:p>
        </p:txBody>
      </p:sp>
      <p:pic>
        <p:nvPicPr>
          <p:cNvPr id="3" name="Picture 2" descr="dotplot_GO_CC_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31" y="676656"/>
            <a:ext cx="575043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Dotplot GO CC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results/enrichment/dotplot_GO_CC_UP.png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44</a:t>
            </a:r>
          </a:p>
        </p:txBody>
      </p:sp>
      <p:pic>
        <p:nvPicPr>
          <p:cNvPr id="3" name="Picture 2" descr="dotplot_GO_MF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31" y="676656"/>
            <a:ext cx="575043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Dotplot GO MF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results/enrichment/dotplot_GO_MF_DOWN.png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45</a:t>
            </a:r>
          </a:p>
        </p:txBody>
      </p:sp>
      <p:pic>
        <p:nvPicPr>
          <p:cNvPr id="3" name="Picture 2" descr="dotplot_GO_MF_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31" y="676656"/>
            <a:ext cx="575043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Dotplot GO MF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results/enrichment/dotplot_GO_MF_UP.png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46</a:t>
            </a:r>
          </a:p>
        </p:txBody>
      </p:sp>
      <p:pic>
        <p:nvPicPr>
          <p:cNvPr id="3" name="Picture 2" descr="dotplot_KEGG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31" y="676656"/>
            <a:ext cx="575043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Dotplot KEGG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results/enrichment/dotplot_KEGG_DOWN.png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47</a:t>
            </a:r>
          </a:p>
        </p:txBody>
      </p:sp>
      <p:pic>
        <p:nvPicPr>
          <p:cNvPr id="3" name="Picture 2" descr="dotplot_KEGG_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31" y="676656"/>
            <a:ext cx="575043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Dotplot KEGG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results/enrichment/dotplot_KEGG_UP.png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48   ·   Supplementary Figure S4</a:t>
            </a:r>
          </a:p>
        </p:txBody>
      </p:sp>
      <p:pic>
        <p:nvPicPr>
          <p:cNvPr id="3" name="Picture 2" descr="path_ORA_GO_KEG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76656"/>
            <a:ext cx="11368735" cy="50527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Over-representation analysis (GO biological process and KEGG) of tumour-up genes.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results/enrichment/path_ORA_GO_KEGG.png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Nomogram / clinical utility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49</a:t>
            </a:r>
          </a:p>
        </p:txBody>
      </p:sp>
      <p:pic>
        <p:nvPicPr>
          <p:cNvPr id="3" name="Picture 2" descr="Calibration_curve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76656"/>
            <a:ext cx="11368735" cy="40602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Calibration curves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results/nomogram/Calibration_curves_real.png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50</a:t>
            </a:r>
          </a:p>
        </p:txBody>
      </p:sp>
      <p:pic>
        <p:nvPicPr>
          <p:cNvPr id="3" name="Picture 2" descr="Nomogram_GC_O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Nomogram GC OS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results/nomogram/Nomogram_GC_OS_real.png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51</a:t>
            </a:r>
          </a:p>
        </p:txBody>
      </p:sp>
      <p:pic>
        <p:nvPicPr>
          <p:cNvPr id="3" name="Picture 2" descr="DCA_3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83" y="676656"/>
            <a:ext cx="6815328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DCA 3yr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results/nomogram_combined/DCA_3yr.png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52   ·   Supplementary Figure S11</a:t>
            </a:r>
          </a:p>
        </p:txBody>
      </p:sp>
      <p:pic>
        <p:nvPicPr>
          <p:cNvPr id="3" name="Picture 2" descr="calibration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Calibration of the combined model against observed survival.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results/nomogram_combined/calibration_combined.png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53   ·   Supplementary Figure S10</a:t>
            </a:r>
          </a:p>
        </p:txBody>
      </p:sp>
      <p:pic>
        <p:nvPicPr>
          <p:cNvPr id="3" name="Picture 2" descr="combined_nom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51" y="676656"/>
            <a:ext cx="817839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Clinical nomogram combining stage, age and the 25-gene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results/nomogram_combined/combined_nomogram.png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Microbiome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54   ·   Supplementary Figure S5</a:t>
            </a:r>
          </a:p>
        </p:txBody>
      </p:sp>
      <p:pic>
        <p:nvPicPr>
          <p:cNvPr id="3" name="Picture 2" descr="da_clr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81" y="676656"/>
            <a:ext cx="8923332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Tissue-microbiome compositional differential abundance (centred log-ratio effect sizes).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results/microbiome_biomarker/da_clr_barplot.png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55   ·   Supplementary Figure S13</a:t>
            </a:r>
          </a:p>
        </p:txBody>
      </p:sp>
      <p:pic>
        <p:nvPicPr>
          <p:cNvPr id="3" name="Picture 2" descr="rf_batch_classif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93" y="676656"/>
            <a:ext cx="11226309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The tumour-microbiome classifier is a batch artefact: apparent cancer-vs-control AUC 0.916, but flowcell is predictable at 77.6% versus a 54.5% baseline, and top discriminating taxa are environmental contaminants.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results/microbiome_biomarker/rf_batch_classifier.png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Mendelian randomisation (European outcome)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56   ·   Supplementary Figure S16</a:t>
            </a:r>
          </a:p>
        </p:txBody>
      </p:sp>
      <p:pic>
        <p:nvPicPr>
          <p:cNvPr id="3" name="Picture 2" descr="loo_Fusobacter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 analysis: Fusobacterium.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results/mr_real/loo_Fusobacterium.png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57   ·   Supplementary Figure S14</a:t>
            </a:r>
          </a:p>
        </p:txBody>
      </p:sp>
      <p:pic>
        <p:nvPicPr>
          <p:cNvPr id="3" name="Picture 2" descr="loo_H__pylori_IgG_seropo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 analysis: anti-H. pylori IgG seropositivity.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results/mr_real/loo_H__pylori_IgG_seropositivity.png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58   ·   Supplementary Figure S19</a:t>
            </a:r>
          </a:p>
        </p:txBody>
      </p:sp>
      <p:pic>
        <p:nvPicPr>
          <p:cNvPr id="3" name="Picture 2" descr="loo_Lactobacil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 analysis: Lactobacillus.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results/mr_real/loo_Lactobacillus.png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59   ·   Supplementary Figure S17</a:t>
            </a:r>
          </a:p>
        </p:txBody>
      </p:sp>
      <p:pic>
        <p:nvPicPr>
          <p:cNvPr id="3" name="Picture 2" descr="loo_Prevot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 analysis: Prevotella.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results/mr_real/loo_Prevotella.png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60   ·   Supplementary Figure S15</a:t>
            </a:r>
          </a:p>
        </p:txBody>
      </p:sp>
      <p:pic>
        <p:nvPicPr>
          <p:cNvPr id="3" name="Picture 2" descr="loo_Streptococcus__genus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 analysis: Streptococcus (genus).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results/mr_real/loo_Streptococcus__genus_.png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61   ·   Supplementary Figure S18</a:t>
            </a:r>
          </a:p>
        </p:txBody>
      </p:sp>
      <p:pic>
        <p:nvPicPr>
          <p:cNvPr id="3" name="Picture 2" descr="loo_Veillon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 analysis: Veillonella.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results/mr_real/loo_Veillonella.png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62   ·   Figure 28</a:t>
            </a:r>
          </a:p>
        </p:txBody>
      </p:sp>
      <p:pic>
        <p:nvPicPr>
          <p:cNvPr id="3" name="Picture 2" descr="scatter_Fusobacter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SNP-effect scatter: Fusobacterium versus gastric cancer (European outcome).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results/mr_real/scatter_Fusobacterium.png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63   ·   Figure 26</a:t>
            </a:r>
          </a:p>
        </p:txBody>
      </p:sp>
      <p:pic>
        <p:nvPicPr>
          <p:cNvPr id="3" name="Picture 2" descr="scatter_H__pylori_IgG_seropo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SNP-effect scatter: anti-H. pylori IgG seropositivity versus gastric cancer (European outcome).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results/mr_real/scatter_H__pylori_IgG_seropositivity.png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64   ·   Figure 31</a:t>
            </a:r>
          </a:p>
        </p:txBody>
      </p:sp>
      <p:pic>
        <p:nvPicPr>
          <p:cNvPr id="3" name="Picture 2" descr="scatter_Lactobacil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SNP-effect scatter: Lactobacillus versus gastric cancer (European outcome).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results/mr_real/scatter_Lactobacillus.png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65   ·   Figure 29</a:t>
            </a:r>
          </a:p>
        </p:txBody>
      </p:sp>
      <p:pic>
        <p:nvPicPr>
          <p:cNvPr id="3" name="Picture 2" descr="scatter_Prevot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SNP-effect scatter: Prevotella versus gastric cancer (European outcome).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results/mr_real/scatter_Prevotella.png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66   ·   Figure 27</a:t>
            </a:r>
          </a:p>
        </p:txBody>
      </p:sp>
      <p:pic>
        <p:nvPicPr>
          <p:cNvPr id="3" name="Picture 2" descr="scatter_Streptococcus__genus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SNP-effect scatter: Streptococcus (genus) versus gastric cancer (European outcome).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results/mr_real/scatter_Streptococcus__genus_.png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67   ·   Figure 30</a:t>
            </a:r>
          </a:p>
        </p:txBody>
      </p:sp>
      <p:pic>
        <p:nvPicPr>
          <p:cNvPr id="3" name="Picture 2" descr="scatter_Veillon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SNP-effect scatter: Veillonella versus gastric cancer (European outcome).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results/mr_real/scatter_Veillonella.png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Mendelian randomisation (East-Asian outcome)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68</a:t>
            </a:r>
          </a:p>
        </p:txBody>
      </p:sp>
      <p:pic>
        <p:nvPicPr>
          <p:cNvPr id="3" name="Picture 2" descr="loo_Fusobacter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Loo Fusobacterium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results/mr_real_eas/loo_Fusobacterium.png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69</a:t>
            </a:r>
          </a:p>
        </p:txBody>
      </p:sp>
      <p:pic>
        <p:nvPicPr>
          <p:cNvPr id="3" name="Picture 2" descr="loo_H__pylori_IgG_seropo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Loo H pylori IgG seropositivity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results/mr_real_eas/loo_H__pylori_IgG_seropositivity.png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70</a:t>
            </a:r>
          </a:p>
        </p:txBody>
      </p:sp>
      <p:pic>
        <p:nvPicPr>
          <p:cNvPr id="3" name="Picture 2" descr="loo_Lactobacil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Loo Lactobacillus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results/mr_real_eas/loo_Lactobacillus.png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71</a:t>
            </a:r>
          </a:p>
        </p:txBody>
      </p:sp>
      <p:pic>
        <p:nvPicPr>
          <p:cNvPr id="3" name="Picture 2" descr="loo_Prevot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Loo Prevotella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results/mr_real_eas/loo_Prevotella.png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72</a:t>
            </a:r>
          </a:p>
        </p:txBody>
      </p:sp>
      <p:pic>
        <p:nvPicPr>
          <p:cNvPr id="3" name="Picture 2" descr="loo_Streptococcus__genus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Loo Streptococcus genus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results/mr_real_eas/loo_Streptococcus__genus_.png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73</a:t>
            </a:r>
          </a:p>
        </p:txBody>
      </p:sp>
      <p:pic>
        <p:nvPicPr>
          <p:cNvPr id="3" name="Picture 2" descr="loo_Veillon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Loo Veillonella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results/mr_real_eas/loo_Veillonella.png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74</a:t>
            </a:r>
          </a:p>
        </p:txBody>
      </p:sp>
      <p:pic>
        <p:nvPicPr>
          <p:cNvPr id="3" name="Picture 2" descr="scatter_Fusobacter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Scatter Fusobacterium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results/mr_real_eas/scatter_Fusobacterium.png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75</a:t>
            </a:r>
          </a:p>
        </p:txBody>
      </p:sp>
      <p:pic>
        <p:nvPicPr>
          <p:cNvPr id="3" name="Picture 2" descr="scatter_H__pylori_IgG_seropo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Scatter H pylori IgG seropositivity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results/mr_real_eas/scatter_H__pylori_IgG_seropositivity.png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76</a:t>
            </a:r>
          </a:p>
        </p:txBody>
      </p:sp>
      <p:pic>
        <p:nvPicPr>
          <p:cNvPr id="3" name="Picture 2" descr="scatter_Lactobacil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Scatter Lactobacillus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results/mr_real_eas/scatter_Lactobacillus.png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77</a:t>
            </a:r>
          </a:p>
        </p:txBody>
      </p:sp>
      <p:pic>
        <p:nvPicPr>
          <p:cNvPr id="3" name="Picture 2" descr="scatter_Prevot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Scatter Prevotella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results/mr_real_eas/scatter_Prevotella.png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78</a:t>
            </a:r>
          </a:p>
        </p:txBody>
      </p:sp>
      <p:pic>
        <p:nvPicPr>
          <p:cNvPr id="3" name="Picture 2" descr="scatter_Streptococcus__genus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Scatter Streptococcus genus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results/mr_real_eas/scatter_Streptococcus__genus_.png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79</a:t>
            </a:r>
          </a:p>
        </p:txBody>
      </p:sp>
      <p:pic>
        <p:nvPicPr>
          <p:cNvPr id="3" name="Picture 2" descr="scatter_Veillon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Scatter Veillonella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results/mr_real_eas/scatter_Veillonella.png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Drug repurposing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80   ·   Supplementary Figure S3</a:t>
            </a:r>
          </a:p>
        </p:txBody>
      </p:sp>
      <p:pic>
        <p:nvPicPr>
          <p:cNvPr id="3" name="Picture 2" descr="top_candidate_dru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226" y="676656"/>
            <a:ext cx="766724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In-silico drug-repurposing candidates ranked by connectivity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results/drug_repurposing_integrated/top_candidate_drugs.png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Review panels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81</a:t>
            </a:r>
          </a:p>
        </p:txBody>
      </p:sp>
      <p:pic>
        <p:nvPicPr>
          <p:cNvPr id="3" name="Picture 2" descr="Top_Prognosti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86" y="676656"/>
            <a:ext cx="657192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Top Prognostic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results/plots/review/Top_Prognostic_Heatmap.png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Other analysis plots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82</a:t>
            </a:r>
          </a:p>
        </p:txBody>
      </p:sp>
      <p:pic>
        <p:nvPicPr>
          <p:cNvPr id="3" name="Picture 2" descr="GTEx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76656"/>
            <a:ext cx="11368735" cy="40602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GTEx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results/plots/GTEx_PCA.png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83</a:t>
            </a:r>
          </a:p>
        </p:txBody>
      </p:sp>
      <p:pic>
        <p:nvPicPr>
          <p:cNvPr id="3" name="Picture 2" descr="GTEx_WGCNA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51" y="676656"/>
            <a:ext cx="817839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GTEx WGCNA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results/plots/GTEx_WGCNA_modules.png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84</a:t>
            </a:r>
          </a:p>
        </p:txBody>
      </p:sp>
      <p:pic>
        <p:nvPicPr>
          <p:cNvPr id="3" name="Picture 2" descr="GTEx_express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51" y="676656"/>
            <a:ext cx="817839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GTEx expression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results/plots/GTEx_expression_distribution.png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85</a:t>
            </a:r>
          </a:p>
        </p:txBody>
      </p:sp>
      <p:pic>
        <p:nvPicPr>
          <p:cNvPr id="3" name="Picture 2" descr="GTEx_module_pathway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67" y="676656"/>
            <a:ext cx="8519160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GTEx module pathway correlations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results/plots/GTEx_module_pathway_correlations.png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86   ·   Supplementary Figure S9</a:t>
            </a:r>
          </a:p>
        </p:txBody>
      </p:sp>
      <p:pic>
        <p:nvPicPr>
          <p:cNvPr id="3" name="Picture 2" descr="Immune_CD8_survival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099" y="676656"/>
            <a:ext cx="5111496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CD8 T-cell infiltration and overall survival (HR 1.04, p = 0.41; not prognostic).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results/plots/Immune_CD8_survival_KM.png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87   ·   Supplementary Figure S8</a:t>
            </a:r>
          </a:p>
        </p:txBody>
      </p:sp>
      <p:pic>
        <p:nvPicPr>
          <p:cNvPr id="3" name="Picture 2" descr="Immune_by_sub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Immune infiltration by Lauren subtype.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results/plots/Immune_by_subtype.png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88   ·   Supplementary Figure S7</a:t>
            </a:r>
          </a:p>
        </p:txBody>
      </p:sp>
      <p:pic>
        <p:nvPicPr>
          <p:cNvPr id="3" name="Picture 2" descr="Immune_tumor_vs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51" y="676656"/>
            <a:ext cx="10222992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Immune cell-type estimates, tumour versus normal tissue.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results/plots/Immune_tumor_vs_normal.png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89   ·   Supplementary Figure S6</a:t>
            </a:r>
          </a:p>
        </p:txBody>
      </p:sp>
      <p:pic>
        <p:nvPicPr>
          <p:cNvPr id="3" name="Picture 2" descr="Immune_valid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676656"/>
            <a:ext cx="6133795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MCP-counter CD8 T-cell score versus measured leukocyte percentage (Spearman rho = 0.468, p = 3.1e-16, n = 272). The total T-cell score correlates more strongly (rho = 0.666). Neither correlates with measured lymphocyte-infiltration percentage (CD8 rho = 0.020, p = 0.74).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results/plots/Immune_validation_scatter.png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90</a:t>
            </a:r>
          </a:p>
        </p:txBody>
      </p:sp>
      <p:pic>
        <p:nvPicPr>
          <p:cNvPr id="3" name="Picture 2" descr="Survival_KM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00" y="676656"/>
            <a:ext cx="7156094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Survival KM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results/plots/Survival_KM_curves.png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91</a:t>
            </a:r>
          </a:p>
        </p:txBody>
      </p:sp>
      <p:pic>
        <p:nvPicPr>
          <p:cNvPr id="3" name="Picture 2" descr="Survival_univariate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51" y="676656"/>
            <a:ext cx="8178393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Survival univariate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results/plots/Survival_univariate_HR.png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3349"/>
                </a:solidFill>
                <a:latin typeface="Calibri"/>
              </a:rPr>
              <a:t>Other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3349"/>
                </a:solidFill>
                <a:latin typeface="Calibri"/>
              </a:rPr>
              <a:t>Figure 92   ·   Supplementary Figure S12</a:t>
            </a:r>
          </a:p>
        </p:txBody>
      </p:sp>
      <p:pic>
        <p:nvPicPr>
          <p:cNvPr id="3" name="Picture 2" descr="DCA_ex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83" y="676656"/>
            <a:ext cx="6815328" cy="511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82472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External decision-curve analysis in ACRG: no incremental net benefit over standard staging (delta-C +0.005).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11112"/>
            <a:ext cx="11368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results/external_utility_ACRG/DCA_external.png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
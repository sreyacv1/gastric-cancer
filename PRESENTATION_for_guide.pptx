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3A5F"/>
                </a:solidFill>
              </a:rPr>
              <a:t>Integrated Multi-Omics Analysis of Gastric-Cancer Prognosis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49039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600"/>
              <a:t>An externally-validated stromal/CAF prognostic programme, with an honest microbiome and Mendelian-randomisation assessment</a:t>
            </a:r>
          </a:p>
          <a:p>
            <a:r>
              <a:rPr sz="1600"/>
              <a:t/>
            </a:r>
          </a:p>
          <a:p>
            <a:r>
              <a:rPr sz="1600"/>
              <a:t>Team BBIN6 — SASTRA Deemed University</a:t>
            </a:r>
          </a:p>
          <a:p>
            <a:r>
              <a:rPr sz="1600"/>
              <a:t>Real public data (TCGA, GTEx, GEO, DDBJ, OpenGWAS)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Objective &amp;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/>
              <a:t>• Identify &amp; externally validate the transcriptomic biology underlying GC prognosis</a:t>
            </a:r>
          </a:p>
          <a:p>
            <a:pPr/>
            <a:r>
              <a:rPr sz="1700"/>
              <a:t>• Secondary/exploratory: tumour microbiome + causal test (MR)</a:t>
            </a:r>
          </a:p>
          <a:p>
            <a:pPr/>
            <a:r>
              <a:rPr sz="1700"/>
              <a:t>• All real public data; 16S microbiome reprocessed from raw FASTQ</a:t>
            </a:r>
          </a:p>
          <a:p>
            <a:pPr/>
            <a:r>
              <a:rPr sz="1700"/>
              <a:t>• Guiding principle: rigorous external validation + honest scoping (no overclaiming)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Data &amp;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/>
              <a:t>• Transcriptome: TCGA-STAD + GTEx; validation ACRG, GSE15459, GSE84437 (n=922)</a:t>
            </a:r>
          </a:p>
          <a:p>
            <a:pPr/>
            <a:r>
              <a:rPr sz="1700"/>
              <a:t>• Microbiome: PRJDB20660 (Japan) 16S — 944 libraries via DADA2; validation Italy + Portugal cohorts</a:t>
            </a:r>
          </a:p>
          <a:p>
            <a:pPr/>
            <a:r>
              <a:rPr sz="1700"/>
              <a:t>• DEG/GSEA, immune deconvolution, LASSO-Cox + nested CV, WGCNA + module preservation, nomogram, MR, drug repurposing + DepMap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Result 1 — Transcriptome &amp; Pathways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/>
              <a:t>• 3,722 up / 4,025 down genes (tumour vs normal)</a:t>
            </a:r>
          </a:p>
          <a:p>
            <a:pPr/>
            <a:r>
              <a:rPr sz="1700"/>
              <a:t>• E2F / G2M / MYC / EMT UP; oxidative phosphorylation DOWN</a:t>
            </a:r>
          </a:p>
          <a:p>
            <a:pPr/>
            <a:r>
              <a:rPr sz="1700"/>
              <a:t>• Diffuse subtype: EMT, IL6-STAT3, TNFα-NF-κB up</a:t>
            </a:r>
          </a:p>
          <a:p>
            <a:pPr/>
            <a:r>
              <a:rPr sz="1700"/>
              <a:t>• Immune: macrophage-enriched; deconvolution VALIDATED vs measured leukocyte % (ρ=0.67)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Result 2 — 25-gene Signature (honest)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1">
                <a:solidFill>
                  <a:srgbClr val="B03030"/>
                </a:solidFill>
              </a:rPr>
              <a:t>• Apparent C 0.72 — but leakage-free nested-CV C = 0.611 (the honest value)</a:t>
            </a:r>
          </a:p>
          <a:p>
            <a:pPr/>
            <a:r>
              <a:rPr sz="1700"/>
              <a:t>• Validated in 2/3 cohorts (ACRG C=0.61; GSE15459 C=0.58; GSE84437 negative)</a:t>
            </a:r>
          </a:p>
          <a:p>
            <a:pPr/>
            <a:r>
              <a:rPr sz="1700"/>
              <a:t>• Conservative meta-analysis: pooled HR 1.19 (0.96–1.47) — NOT significant</a:t>
            </a:r>
          </a:p>
          <a:p>
            <a:pPr/>
            <a:r>
              <a:rPr sz="1700"/>
              <a:t>• ACRG effect early-only (HR 1.49 → 1.03 → 0.87 at 12/36/60 mo)</a:t>
            </a:r>
          </a:p>
          <a:p>
            <a:pPr/>
            <a:r>
              <a:rPr sz="1700"/>
              <a:t>• A modest, unstable predictor — not the headline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Result 3 — CAF Module: the PRIMARY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1">
                <a:solidFill>
                  <a:srgbClr val="B03030"/>
                </a:solidFill>
              </a:rPr>
              <a:t>• PRIMARY: externally-validated stromal/CAF co-expression programme</a:t>
            </a:r>
          </a:p>
          <a:p>
            <a:pPr/>
            <a:r>
              <a:rPr sz="1700" b="1">
                <a:solidFill>
                  <a:srgbClr val="B03030"/>
                </a:solidFill>
              </a:rPr>
              <a:t>• Module preserved in 3 cohorts: Zsummary 15.9 / 16.8 / 17.1 (all 'strong', Z&gt;10)</a:t>
            </a:r>
          </a:p>
          <a:p>
            <a:pPr/>
            <a:r>
              <a:rPr sz="1700"/>
              <a:t>• Independently prognostic externally (HR/SD 1.24–1.55, all p&lt;0.01)</a:t>
            </a:r>
          </a:p>
          <a:p>
            <a:pPr/>
            <a:r>
              <a:rPr sz="1700"/>
              <a:t>• Single-cell: 28/29 hub genes fibroblast-dominant</a:t>
            </a:r>
          </a:p>
          <a:p>
            <a:pPr/>
            <a:r>
              <a:rPr sz="1700"/>
              <a:t>• Survives tumour-purity adjustment — real biology, replicated across 4 cohorts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Figure — CAF module external validation</a:t>
            </a:r>
          </a:p>
        </p:txBody>
      </p:sp>
      <p:pic>
        <p:nvPicPr>
          <p:cNvPr id="3" name="Picture 2" descr="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188720"/>
            <a:ext cx="4604004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/>
              <a:t>Preservation Z-scores, external prognosis, single-cell localisation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Result 4 — Microbiome (3-cohort, honest)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/>
              <a:t>• Japan 16S reprocessed from raw (r=0.98 vs published)</a:t>
            </a:r>
          </a:p>
          <a:p>
            <a:pPr/>
            <a:r>
              <a:rPr sz="1700"/>
              <a:t>• CRITICAL: tumour/normal confounded with sequencing batch (1/216 pairs share flowcell)</a:t>
            </a:r>
          </a:p>
          <a:p>
            <a:pPr/>
            <a:r>
              <a:rPr sz="1700"/>
              <a:t>• Classifier AUC 0.916 — but batch-driven (flowcell predictable 78%)</a:t>
            </a:r>
          </a:p>
          <a:p>
            <a:pPr/>
            <a:r>
              <a:rPr sz="1700"/>
              <a:t>• Italy (batch-clean): NULL (PERMANOVA p=0.80)</a:t>
            </a:r>
          </a:p>
          <a:p>
            <a:pPr/>
            <a:r>
              <a:rPr sz="1700"/>
              <a:t>• Portugal: reduced diversity replicates; oral taxa DOWN (H. pylori paradox)</a:t>
            </a:r>
          </a:p>
          <a:p>
            <a:pPr/>
            <a:r>
              <a:rPr sz="1700"/>
              <a:t>• =&gt; 'oralization' biomarker does NOT generalise — cautionary finding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Results 5 — MR, Drugs,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/>
              <a:t>• Mendelian randomisation: NULL (no causal microbial effect; underpowered)</a:t>
            </a:r>
          </a:p>
          <a:p>
            <a:pPr/>
            <a:r>
              <a:rPr sz="1700"/>
              <a:t>• Drug repurposing: PI3K/CDK4-6 nominated; DepMap PIK3CA selective gastric dependency</a:t>
            </a:r>
          </a:p>
          <a:p>
            <a:pPr/>
            <a:r>
              <a:rPr sz="1700"/>
              <a:t>• Integration model (literature-anchored): dysbiosis → inflammation (IL-17 up) → CAF/EMT stroma</a:t>
            </a:r>
          </a:p>
          <a:p>
            <a:pPr/>
            <a:r>
              <a:rPr sz="1700"/>
              <a:t>• Honest: different cohorts, so hypothesis not per-patient correlation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Figure — Signature reported honestly</a:t>
            </a:r>
          </a:p>
        </p:txBody>
      </p:sp>
      <p:pic>
        <p:nvPicPr>
          <p:cNvPr id="3" name="Picture 2" descr="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188720"/>
            <a:ext cx="592328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/>
              <a:t>KM, forest+meta, nested-CV, time-varying HR(t)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1">
                <a:solidFill>
                  <a:srgbClr val="B03030"/>
                </a:solidFill>
              </a:rPr>
              <a:t>• PRIMARY: a 4-cohort externally-validated stromal/CAF prognostic programme — the real finding</a:t>
            </a:r>
          </a:p>
          <a:p>
            <a:pPr/>
            <a:r>
              <a:rPr sz="1700"/>
              <a:t>• Signature modest/transient; microbiome comparator-dependent &amp; batch-confounded; MR null</a:t>
            </a:r>
          </a:p>
          <a:p>
            <a:pPr/>
            <a:r>
              <a:rPr sz="1700"/>
              <a:t>• Contribution: rigorous, HONEST delineation of what the data support</a:t>
            </a:r>
          </a:p>
          <a:p>
            <a:pPr/>
            <a:r>
              <a:rPr sz="1700"/>
              <a:t>• Realistic target IF 3–4 (clears IF 1.5 comfortably)</a:t>
            </a:r>
          </a:p>
          <a:p>
            <a:pPr/>
            <a:r>
              <a:rPr sz="1700"/>
              <a:t>• Every number real and traceable — no fabrication, external validation throughout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/>
              <a:t>• Confirmatory biology; signature not clinically deployable; microbiome batch-limited; MR underpowered</a:t>
            </a:r>
          </a:p>
          <a:p>
            <a:pPr/>
            <a:r>
              <a:rPr sz="1700"/>
              <a:t>• No wet-lab validation (computational study)</a:t>
            </a:r>
          </a:p>
          <a:p>
            <a:pPr/>
            <a:r>
              <a:rPr sz="1700"/>
              <a:t>• Next project (separate): NW China matched shotgun-metagenomics + RNA-seq — TRUE same-patient integration + novel discovery angles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